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Training Data</c:v>
                  </c:pt>
                  <c:pt idx="1">
                    <c:v>Test Data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0.423</c:v>
                </c:pt>
                <c:pt idx="1">
                  <c:v>0.413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D2B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Naive Bayes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0.95</c:v>
                </c:pt>
                <c:pt idx="1">
                  <c:v>0.9</c:v>
                </c:pt>
                <c:pt idx="2">
                  <c:v>0.98</c:v>
                </c:pt>
                <c:pt idx="3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Naive Bayes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</c:v>
                </c:pt>
                <c:pt idx="1">
                  <c:v>0.58</c:v>
                </c:pt>
                <c:pt idx="2">
                  <c:v>0.91</c:v>
                </c:pt>
                <c:pt idx="3">
                  <c:v>0.9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D2B5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Reg.</c:v>
                  </c:pt>
                  <c:pt idx="1">
                    <c:v>Naive Bayes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0.95</c:v>
                </c:pt>
                <c:pt idx="1">
                  <c:v>0.94</c:v>
                </c:pt>
                <c:pt idx="2">
                  <c:v>1</c:v>
                </c:pt>
                <c:pt idx="3">
                  <c:v>0.99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2B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CD Account</c:v>
                  </c:pt>
                  <c:pt idx="1">
                    <c:v>Family Size</c:v>
                  </c:pt>
                  <c:pt idx="2">
                    <c:v>Avg CC Spend</c:v>
                  </c:pt>
                  <c:pt idx="3">
                    <c:v>Education</c:v>
                  </c:pt>
                  <c:pt idx="4">
                    <c:v>Income</c:v>
                  </c:pt>
                  <c:pt idx="5">
                    <c:v>Predicted Spend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0.07</c:v>
                </c:pt>
                <c:pt idx="1">
                  <c:v>0.118</c:v>
                </c:pt>
                <c:pt idx="2">
                  <c:v>0.124</c:v>
                </c:pt>
                <c:pt idx="3">
                  <c:v>0.184</c:v>
                </c:pt>
                <c:pt idx="4">
                  <c:v>0.231</c:v>
                </c:pt>
                <c:pt idx="5">
                  <c:v>0.234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D2B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Loan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AllLife Bank · Customer Behavior Modeling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data science to find the right customers for personal loans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4114800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462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4114800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77440" y="4462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4114800"/>
            <a:ext cx="155448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2-Step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06240" y="4462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Challenge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AllLife Bank wants to grow its loan business — but who should they target?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AllLife Bank has many depositors but very few loan customers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loan offers to everyone wastes money and annoys customers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needs to find which customers are MOST LIKELY to say YES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job: use data to predict the right customers to target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4343400" cy="1554480"/>
          </a:xfrm>
          <a:prstGeom prst="rect">
            <a:avLst/>
          </a:prstGeom>
          <a:solidFill>
            <a:srgbClr val="0D2B5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33502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0" y="19568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accepted a loan in the last campaign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2697480"/>
            <a:ext cx="43434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816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2-Step Approach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315468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31546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15468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spending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35584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each customer spend on credit cards?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81304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8130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uptake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40142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spending + other info, who will accept a loan?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Did We Use?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customer records with demographic and financial information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832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&amp; Experience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Customer's age and years of work experience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76672" y="1097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76672" y="1353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(in $thousands)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41832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people in the household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76672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Spend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76672" y="2267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credit card spending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8346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1832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Undergrad, Graduate, or Advanced degree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76672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76672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mortgage value, if any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9768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41832" y="3840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Account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1832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customer invest with the bank?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749040"/>
            <a:ext cx="4160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64608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76672" y="3840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Account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76672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customer have a fixed deposit?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Target: Did the customer accept a personal loan? (Yes / No)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Predicting Customer Spending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 model to estimate how much each customer spends on credit cards monthly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2004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1155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 spending?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spend more on credit cards often have more financial activity — and are more likely to want a personal loan.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use real spending data to predict loans (that would be "cheating" with data), so instead we first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customer's spending, then use that prediction as an input.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005840"/>
            <a:ext cx="51663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22192" y="1115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0" y="1389888"/>
          <a:ext cx="5166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520440"/>
            <a:ext cx="8503920" cy="1417320"/>
          </a:xfrm>
          <a:prstGeom prst="rect">
            <a:avLst/>
          </a:prstGeom>
          <a:solidFill>
            <a:srgbClr val="0D2B5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630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customer spending?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Income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41788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— higher earners spend more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3756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37560" y="41788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customers tend to spend more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172200" y="3931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CD Account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72200" y="41788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deposit holders show higher spending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Who Will Accept a Loan?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4 different AI models and compared their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206240" cy="1828800"/>
          </a:xfrm>
          <a:prstGeom prst="rect">
            <a:avLst/>
          </a:prstGeom>
          <a:solidFill>
            <a:srgbClr val="EBF8FF"/>
          </a:solidFill>
          <a:ln w="15240">
            <a:solidFill>
              <a:srgbClr val="90C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987552"/>
            <a:ext cx="4206240" cy="1828800"/>
          </a:xfrm>
          <a:prstGeom prst="rect">
            <a:avLst/>
          </a:prstGeom>
          <a:solidFill>
            <a:srgbClr val="EBF8FF"/>
          </a:solidFill>
          <a:ln w="15240">
            <a:solidFill>
              <a:srgbClr val="90CD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364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635240" y="1645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635240" y="2048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53512"/>
            <a:ext cx="4206240" cy="1828800"/>
          </a:xfrm>
          <a:prstGeom prst="rect">
            <a:avLst/>
          </a:prstGeom>
          <a:solidFill>
            <a:srgbClr val="E6FFFA"/>
          </a:solidFill>
          <a:ln w="15240">
            <a:solidFill>
              <a:srgbClr val="81E6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40142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828800" y="40142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00400" y="40142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953512"/>
            <a:ext cx="4206240" cy="1828800"/>
          </a:xfrm>
          <a:prstGeom prst="rect">
            <a:avLst/>
          </a:prstGeom>
          <a:solidFill>
            <a:srgbClr val="E6FFFA"/>
          </a:solidFill>
          <a:ln w="15240">
            <a:solidFill>
              <a:srgbClr val="81E6D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9204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92040" y="40142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63640" y="40142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35240" y="3611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635240" y="40142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4681728"/>
            <a:ext cx="8503920" cy="301752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Decision Tree &amp; Random Forest deliver 98% accuracy — perfect for this business use case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at a Glance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4 models across key metrics — higher is better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411480" y="1005840"/>
          <a:ext cx="8321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Customer Accept a Loan?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identified the most important factors — ranked by influence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5029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365760" y="1024128"/>
          <a:ext cx="49377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1005840"/>
            <a:ext cx="3291840" cy="84124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50992" y="10789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Predicted Spending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50992" y="133502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expected to spend more on cards are top loan candidates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32120" y="1965960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50992" y="20391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Income Level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50992" y="22951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= higher loan acceptance. Target $75k+ earners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32120" y="2926080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50992" y="29992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Education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50992" y="325526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&amp; professional degree holders are 3× more likely to accept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32120" y="3886200"/>
            <a:ext cx="32918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50992" y="39593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Family Size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50992" y="421538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families have bigger financial needs — more open to loans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 Is the Model?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— out of 1,500 customers in the test 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329184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97280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quiz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2980944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customer the model gives a verdict: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WILL take a loan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WON'T take a loan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then check how often it was right.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boxes show correct predictions. The grey boxes show mistakes.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got it right 98% of the time!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987552"/>
            <a:ext cx="2395728" cy="1847088"/>
          </a:xfrm>
          <a:prstGeom prst="rect">
            <a:avLst/>
          </a:prstGeom>
          <a:solidFill>
            <a:srgbClr val="02C39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17043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840480" y="185623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said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take loan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24505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987552"/>
            <a:ext cx="2395728" cy="1847088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17043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55080" y="185623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WON'T but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24505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2953512"/>
            <a:ext cx="2395728" cy="184708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313639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840480" y="38221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WILL but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DIDN'T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441655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09360" y="2953512"/>
            <a:ext cx="2395728" cy="1847088"/>
          </a:xfrm>
          <a:prstGeom prst="rect">
            <a:avLst/>
          </a:prstGeom>
          <a:solidFill>
            <a:srgbClr val="02C39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136392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1356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355080" y="382219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said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take loan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41655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94760" y="457200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WILL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457200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WON'T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model insights into a smarter marketing strategy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4206240" cy="182880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0972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High-Income Graduate Customers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536192"/>
            <a:ext cx="3858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personal loan campaigns on customers earning $75,000+ with graduate or professional degrees. They are 3× more likely to accept.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87552"/>
            <a:ext cx="4206240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09728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Use Predicted Spending as a Filter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536192"/>
            <a:ext cx="3858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predicted monthly card spend above $3,000 are prime candidates. Prioritise these in your outreach list.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980944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09067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Target Families of 3 or More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3529584"/>
            <a:ext cx="3858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families have higher financial demands. Tailor loan offers highlighting family benefits like education or home improvement.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980944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9472" y="309067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CD Account Holders Are Low-Hanging Fruit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3529584"/>
            <a:ext cx="38587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fixed deposit accounts already trust the bank with savings. They're natural upsell targets for personal loans.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53035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412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We built an AI pipeline that predicts loan acceptance with 98%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53035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Income, education, and predicted spending are the top 3 predictors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53035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4086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bank can now target only the most likely customers — saving marketing 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054096"/>
            <a:ext cx="5303520" cy="621792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9067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Random Forest was the best model: zero false alarms, very few missed customers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804672"/>
            <a:ext cx="2926080" cy="37124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914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89320" y="1261872"/>
            <a:ext cx="2651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to flag top candidates monthly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targeted vs. broad campaign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model every quarter with new data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other product offers (savings, insurance)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663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Targeting – AllLife Bank</dc:title>
  <dc:subject>PptxGenJS Presentation</dc:subject>
  <dc:creator>PptxGenJS</dc:creator>
  <cp:lastModifiedBy>PptxGenJS</cp:lastModifiedBy>
  <cp:revision>1</cp:revision>
  <dcterms:created xsi:type="dcterms:W3CDTF">2026-05-18T09:09:45Z</dcterms:created>
  <dcterms:modified xsi:type="dcterms:W3CDTF">2026-05-18T09:09:45Z</dcterms:modified>
</cp:coreProperties>
</file>